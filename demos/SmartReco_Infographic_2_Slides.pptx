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SmartReco project specification in this conversation.</a:t>
            </a:r>
          </a:p>
          <a:p>
            <a:r>
              <a:t>- User-referenced demo video: https://www.youtube.com/watch?v=2rj6-67mTsU</a:t>
            </a:r>
          </a:p>
          <a:p>
            <a:r>
              <a:t>- User-provided/generated SmartReco thumbnail used as the slide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SmartReco project specification in this conversation.</a:t>
            </a:r>
          </a:p>
          <a:p>
            <a:r>
              <a:t>- User-referenced demo video: https://www.youtube.com/watch?v=2rj6-67mTsU</a:t>
            </a:r>
          </a:p>
          <a:p>
            <a:r>
              <a:t>- User-provided/generated SmartReco thumbnail used as the slide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rk-overlay">
            <a:extLst>
              <a:ext uri="{FF2B5EF4-FFF2-40B4-BE49-F238E27FC236}">
                <a16:creationId xmlns:a16="http://schemas.microsoft.com/office/drawing/2014/main" id="{34BB7723-79F1-4F0A-BEE0-E1CCFB9F4B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20817">
                  <a:alpha val="96000"/>
                </a:srgbClr>
              </a:gs>
              <a:gs pos="48000">
                <a:srgbClr val="020817">
                  <a:alpha val="82000"/>
                </a:srgbClr>
              </a:gs>
              <a:gs pos="100000">
                <a:srgbClr val="020817">
                  <a:alpha val="66000"/>
                </a:srgbClr>
              </a:gs>
            </a:gsLst>
            <a:lin ang="5400000"/>
          </a:gra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A7C6569F-1457-4AEE-9300-AF73B8DF5C0A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742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4D7FF"/>
                </a:solidFill>
              </a:defRPr>
            </a:pPr>
            <a:r>
              <a:rPr sz="1050" b="1">
                <a:solidFill>
                  <a:srgbClr val="24D7FF"/>
                </a:solidFill>
              </a:rPr>
              <a:t>SMARTRECO  •  BEHAVIORAL AI COURSE RECOMMENDER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10CAAD85-1ED4-426D-A2C2-477B2BB71653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78105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150" b="1">
                <a:solidFill>
                  <a:srgbClr val="F7FBFF"/>
                </a:solidFill>
              </a:defRPr>
            </a:pPr>
            <a:r>
              <a:rPr sz="3150" b="1">
                <a:solidFill>
                  <a:srgbClr val="F7FBFF"/>
                </a:solidFill>
              </a:rPr>
              <a:t>Behavior becomes a trusted learning path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F6223DA3-D251-4B7E-AAF5-6B5DC6EBA467}"/>
              </a:ext>
            </a:extLst>
          </p:cNvPr>
          <p:cNvSpPr>
            <a:spLocks noGrp="1"/>
          </p:cNvSpPr>
          <p:nvPr/>
        </p:nvSpPr>
        <p:spPr>
          <a:xfrm>
            <a:off x="533400" y="1676400"/>
            <a:ext cx="7429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A9BDD8"/>
                </a:solidFill>
              </a:defRPr>
            </a:pPr>
            <a:r>
              <a:rPr sz="1500" b="0">
                <a:solidFill>
                  <a:srgbClr val="A9BDD8"/>
                </a:solidFill>
              </a:rPr>
              <a:t>SmartReco observes meaningful on-site intent, retrieves active courses semantically, and explains every recommendation.</a:t>
            </a:r>
          </a:p>
        </p:txBody>
      </p:sp>
      <p:sp>
        <p:nvSpPr>
          <p:cNvPr id="6" name="flow-panel">
            <a:extLst>
              <a:ext uri="{FF2B5EF4-FFF2-40B4-BE49-F238E27FC236}">
                <a16:creationId xmlns:a16="http://schemas.microsoft.com/office/drawing/2014/main" id="{895A1175-6771-41C1-AB76-EEF1F32FA5D0}"/>
              </a:ext>
            </a:extLst>
          </p:cNvPr>
          <p:cNvSpPr>
            <a:spLocks noGrp="1"/>
          </p:cNvSpPr>
          <p:nvPr/>
        </p:nvSpPr>
        <p:spPr>
          <a:xfrm>
            <a:off x="457200" y="2571750"/>
            <a:ext cx="11277600" cy="2152650"/>
          </a:xfrm>
          <a:prstGeom prst="roundRect">
            <a:avLst>
              <a:gd name="adj" fmla="val 5310"/>
            </a:avLst>
          </a:prstGeom>
          <a:solidFill>
            <a:srgbClr val="041127">
              <a:alpha val="92000"/>
            </a:srgbClr>
          </a:solidFill>
          <a:ln w="12383">
            <a:solidFill>
              <a:srgbClr val="2B7FFF">
                <a:alpha val="55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pill-1">
            <a:extLst>
              <a:ext uri="{FF2B5EF4-FFF2-40B4-BE49-F238E27FC236}">
                <a16:creationId xmlns:a16="http://schemas.microsoft.com/office/drawing/2014/main" id="{927B8F8E-E50E-4BC6-B3DC-EFE31ED729FF}"/>
              </a:ext>
            </a:extLst>
          </p:cNvPr>
          <p:cNvSpPr>
            <a:spLocks noGrp="1"/>
          </p:cNvSpPr>
          <p:nvPr/>
        </p:nvSpPr>
        <p:spPr>
          <a:xfrm>
            <a:off x="685800" y="2971800"/>
            <a:ext cx="2000250" cy="685800"/>
          </a:xfrm>
          <a:prstGeom prst="roundRect">
            <a:avLst>
              <a:gd name="adj" fmla="val 16667"/>
            </a:avLst>
          </a:prstGeom>
          <a:solidFill>
            <a:srgbClr val="020817">
              <a:alpha val="92000"/>
            </a:srgbClr>
          </a:solidFill>
          <a:ln w="12383">
            <a:solidFill>
              <a:srgbClr val="24D7FF">
                <a:alpha val="80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pill-num-1">
            <a:extLst>
              <a:ext uri="{FF2B5EF4-FFF2-40B4-BE49-F238E27FC236}">
                <a16:creationId xmlns:a16="http://schemas.microsoft.com/office/drawing/2014/main" id="{C04FFFC8-C83A-4975-8D88-790D3E25D3ED}"/>
              </a:ext>
            </a:extLst>
          </p:cNvPr>
          <p:cNvSpPr>
            <a:spLocks noGrp="1"/>
          </p:cNvSpPr>
          <p:nvPr/>
        </p:nvSpPr>
        <p:spPr>
          <a:xfrm>
            <a:off x="819150" y="30956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24D7FF"/>
                </a:solidFill>
              </a:defRPr>
            </a:pPr>
            <a:r>
              <a:rPr sz="1875" b="1">
                <a:solidFill>
                  <a:srgbClr val="24D7FF"/>
                </a:solidFill>
              </a:rPr>
              <a:t>1</a:t>
            </a:r>
          </a:p>
        </p:txBody>
      </p:sp>
      <p:sp>
        <p:nvSpPr>
          <p:cNvPr id="9" name="pill-label-1">
            <a:extLst>
              <a:ext uri="{FF2B5EF4-FFF2-40B4-BE49-F238E27FC236}">
                <a16:creationId xmlns:a16="http://schemas.microsoft.com/office/drawing/2014/main" id="{A941D937-2A2A-4292-8565-8BA63F0922B0}"/>
              </a:ext>
            </a:extLst>
          </p:cNvPr>
          <p:cNvSpPr>
            <a:spLocks noGrp="1"/>
          </p:cNvSpPr>
          <p:nvPr/>
        </p:nvSpPr>
        <p:spPr>
          <a:xfrm>
            <a:off x="1295400" y="3086100"/>
            <a:ext cx="1276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7FBFF"/>
                </a:solidFill>
              </a:defRPr>
            </a:pPr>
            <a:r>
              <a:rPr sz="1275" b="1">
                <a:solidFill>
                  <a:srgbClr val="F7FBFF"/>
                </a:solidFill>
              </a:rPr>
              <a:t>Observe</a:t>
            </a:r>
          </a:p>
        </p:txBody>
      </p:sp>
      <p:sp>
        <p:nvSpPr>
          <p:cNvPr id="10" name="pill-2">
            <a:extLst>
              <a:ext uri="{FF2B5EF4-FFF2-40B4-BE49-F238E27FC236}">
                <a16:creationId xmlns:a16="http://schemas.microsoft.com/office/drawing/2014/main" id="{F219AAD4-2A39-40E5-AF36-3FDA2D0B45D6}"/>
              </a:ext>
            </a:extLst>
          </p:cNvPr>
          <p:cNvSpPr>
            <a:spLocks noGrp="1"/>
          </p:cNvSpPr>
          <p:nvPr/>
        </p:nvSpPr>
        <p:spPr>
          <a:xfrm>
            <a:off x="2933700" y="2971800"/>
            <a:ext cx="2000250" cy="685800"/>
          </a:xfrm>
          <a:prstGeom prst="roundRect">
            <a:avLst>
              <a:gd name="adj" fmla="val 16667"/>
            </a:avLst>
          </a:prstGeom>
          <a:solidFill>
            <a:srgbClr val="020817">
              <a:alpha val="92000"/>
            </a:srgbClr>
          </a:solidFill>
          <a:ln w="12383">
            <a:solidFill>
              <a:srgbClr val="8B5CF6">
                <a:alpha val="80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1" name="pill-num-2">
            <a:extLst>
              <a:ext uri="{FF2B5EF4-FFF2-40B4-BE49-F238E27FC236}">
                <a16:creationId xmlns:a16="http://schemas.microsoft.com/office/drawing/2014/main" id="{386B139B-90E1-4644-A96F-30469445876A}"/>
              </a:ext>
            </a:extLst>
          </p:cNvPr>
          <p:cNvSpPr>
            <a:spLocks noGrp="1"/>
          </p:cNvSpPr>
          <p:nvPr/>
        </p:nvSpPr>
        <p:spPr>
          <a:xfrm>
            <a:off x="3067050" y="30956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8B5CF6"/>
                </a:solidFill>
              </a:defRPr>
            </a:pPr>
            <a:r>
              <a:rPr sz="1875" b="1">
                <a:solidFill>
                  <a:srgbClr val="8B5CF6"/>
                </a:solidFill>
              </a:rPr>
              <a:t>2</a:t>
            </a:r>
          </a:p>
        </p:txBody>
      </p:sp>
      <p:sp>
        <p:nvSpPr>
          <p:cNvPr id="12" name="pill-label-2">
            <a:extLst>
              <a:ext uri="{FF2B5EF4-FFF2-40B4-BE49-F238E27FC236}">
                <a16:creationId xmlns:a16="http://schemas.microsoft.com/office/drawing/2014/main" id="{3FF76A39-6EA6-457C-89AC-5F7A7D6E7970}"/>
              </a:ext>
            </a:extLst>
          </p:cNvPr>
          <p:cNvSpPr>
            <a:spLocks noGrp="1"/>
          </p:cNvSpPr>
          <p:nvPr/>
        </p:nvSpPr>
        <p:spPr>
          <a:xfrm>
            <a:off x="3543300" y="3086100"/>
            <a:ext cx="1276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7FBFF"/>
                </a:solidFill>
              </a:defRPr>
            </a:pPr>
            <a:r>
              <a:rPr sz="1275" b="1">
                <a:solidFill>
                  <a:srgbClr val="F7FBFF"/>
                </a:solidFill>
              </a:rPr>
              <a:t>Understand</a:t>
            </a:r>
          </a:p>
        </p:txBody>
      </p:sp>
      <p:sp>
        <p:nvSpPr>
          <p:cNvPr id="13" name="pill-3">
            <a:extLst>
              <a:ext uri="{FF2B5EF4-FFF2-40B4-BE49-F238E27FC236}">
                <a16:creationId xmlns:a16="http://schemas.microsoft.com/office/drawing/2014/main" id="{7E00BD02-D64E-4B4B-BB9B-DAC91C4DED4A}"/>
              </a:ext>
            </a:extLst>
          </p:cNvPr>
          <p:cNvSpPr>
            <a:spLocks noGrp="1"/>
          </p:cNvSpPr>
          <p:nvPr/>
        </p:nvSpPr>
        <p:spPr>
          <a:xfrm>
            <a:off x="5181600" y="2971800"/>
            <a:ext cx="2000250" cy="685800"/>
          </a:xfrm>
          <a:prstGeom prst="roundRect">
            <a:avLst>
              <a:gd name="adj" fmla="val 16667"/>
            </a:avLst>
          </a:prstGeom>
          <a:solidFill>
            <a:srgbClr val="020817">
              <a:alpha val="92000"/>
            </a:srgbClr>
          </a:solidFill>
          <a:ln w="12383">
            <a:solidFill>
              <a:srgbClr val="2B7FFF">
                <a:alpha val="80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4" name="pill-num-3">
            <a:extLst>
              <a:ext uri="{FF2B5EF4-FFF2-40B4-BE49-F238E27FC236}">
                <a16:creationId xmlns:a16="http://schemas.microsoft.com/office/drawing/2014/main" id="{55F8A799-9751-4BFA-8674-B08DFB39DF70}"/>
              </a:ext>
            </a:extLst>
          </p:cNvPr>
          <p:cNvSpPr>
            <a:spLocks noGrp="1"/>
          </p:cNvSpPr>
          <p:nvPr/>
        </p:nvSpPr>
        <p:spPr>
          <a:xfrm>
            <a:off x="5314950" y="30956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2B7FFF"/>
                </a:solidFill>
              </a:defRPr>
            </a:pPr>
            <a:r>
              <a:rPr sz="1875" b="1">
                <a:solidFill>
                  <a:srgbClr val="2B7FFF"/>
                </a:solidFill>
              </a:rPr>
              <a:t>3</a:t>
            </a:r>
          </a:p>
        </p:txBody>
      </p:sp>
      <p:sp>
        <p:nvSpPr>
          <p:cNvPr id="15" name="pill-label-3">
            <a:extLst>
              <a:ext uri="{FF2B5EF4-FFF2-40B4-BE49-F238E27FC236}">
                <a16:creationId xmlns:a16="http://schemas.microsoft.com/office/drawing/2014/main" id="{8215307B-D904-4810-B05B-7900EF6CA943}"/>
              </a:ext>
            </a:extLst>
          </p:cNvPr>
          <p:cNvSpPr>
            <a:spLocks noGrp="1"/>
          </p:cNvSpPr>
          <p:nvPr/>
        </p:nvSpPr>
        <p:spPr>
          <a:xfrm>
            <a:off x="5791200" y="3086100"/>
            <a:ext cx="1276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7FBFF"/>
                </a:solidFill>
              </a:defRPr>
            </a:pPr>
            <a:r>
              <a:rPr sz="1275" b="1">
                <a:solidFill>
                  <a:srgbClr val="F7FBFF"/>
                </a:solidFill>
              </a:rPr>
              <a:t>Retrieve</a:t>
            </a:r>
          </a:p>
        </p:txBody>
      </p:sp>
      <p:sp>
        <p:nvSpPr>
          <p:cNvPr id="16" name="pill-4">
            <a:extLst>
              <a:ext uri="{FF2B5EF4-FFF2-40B4-BE49-F238E27FC236}">
                <a16:creationId xmlns:a16="http://schemas.microsoft.com/office/drawing/2014/main" id="{FD94BC6D-B605-4DCB-B8E7-F6A6D0665671}"/>
              </a:ext>
            </a:extLst>
          </p:cNvPr>
          <p:cNvSpPr>
            <a:spLocks noGrp="1"/>
          </p:cNvSpPr>
          <p:nvPr/>
        </p:nvSpPr>
        <p:spPr>
          <a:xfrm>
            <a:off x="7429500" y="2971800"/>
            <a:ext cx="2000250" cy="685800"/>
          </a:xfrm>
          <a:prstGeom prst="roundRect">
            <a:avLst>
              <a:gd name="adj" fmla="val 16667"/>
            </a:avLst>
          </a:prstGeom>
          <a:solidFill>
            <a:srgbClr val="020817">
              <a:alpha val="92000"/>
            </a:srgbClr>
          </a:solidFill>
          <a:ln w="12383">
            <a:solidFill>
              <a:srgbClr val="FFB52E">
                <a:alpha val="80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7" name="pill-num-4">
            <a:extLst>
              <a:ext uri="{FF2B5EF4-FFF2-40B4-BE49-F238E27FC236}">
                <a16:creationId xmlns:a16="http://schemas.microsoft.com/office/drawing/2014/main" id="{71A64A7B-045C-475B-8A5E-2909858110EE}"/>
              </a:ext>
            </a:extLst>
          </p:cNvPr>
          <p:cNvSpPr>
            <a:spLocks noGrp="1"/>
          </p:cNvSpPr>
          <p:nvPr/>
        </p:nvSpPr>
        <p:spPr>
          <a:xfrm>
            <a:off x="7562850" y="30956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FFB52E"/>
                </a:solidFill>
              </a:defRPr>
            </a:pPr>
            <a:r>
              <a:rPr sz="1875" b="1">
                <a:solidFill>
                  <a:srgbClr val="FFB52E"/>
                </a:solidFill>
              </a:rPr>
              <a:t>4</a:t>
            </a:r>
          </a:p>
        </p:txBody>
      </p:sp>
      <p:sp>
        <p:nvSpPr>
          <p:cNvPr id="18" name="pill-label-4">
            <a:extLst>
              <a:ext uri="{FF2B5EF4-FFF2-40B4-BE49-F238E27FC236}">
                <a16:creationId xmlns:a16="http://schemas.microsoft.com/office/drawing/2014/main" id="{FCC6E69B-184C-4437-8919-9A1414EADBD6}"/>
              </a:ext>
            </a:extLst>
          </p:cNvPr>
          <p:cNvSpPr>
            <a:spLocks noGrp="1"/>
          </p:cNvSpPr>
          <p:nvPr/>
        </p:nvSpPr>
        <p:spPr>
          <a:xfrm>
            <a:off x="8039100" y="3086100"/>
            <a:ext cx="1276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7FBFF"/>
                </a:solidFill>
              </a:defRPr>
            </a:pPr>
            <a:r>
              <a:rPr sz="1275" b="1">
                <a:solidFill>
                  <a:srgbClr val="F7FBFF"/>
                </a:solidFill>
              </a:rPr>
              <a:t>Persuade</a:t>
            </a:r>
          </a:p>
        </p:txBody>
      </p:sp>
      <p:sp>
        <p:nvSpPr>
          <p:cNvPr id="19" name="pill-5">
            <a:extLst>
              <a:ext uri="{FF2B5EF4-FFF2-40B4-BE49-F238E27FC236}">
                <a16:creationId xmlns:a16="http://schemas.microsoft.com/office/drawing/2014/main" id="{938B3A8C-5677-47D2-9A7F-8712B3116799}"/>
              </a:ext>
            </a:extLst>
          </p:cNvPr>
          <p:cNvSpPr>
            <a:spLocks noGrp="1"/>
          </p:cNvSpPr>
          <p:nvPr/>
        </p:nvSpPr>
        <p:spPr>
          <a:xfrm>
            <a:off x="9677400" y="2971800"/>
            <a:ext cx="1809750" cy="685800"/>
          </a:xfrm>
          <a:prstGeom prst="roundRect">
            <a:avLst>
              <a:gd name="adj" fmla="val 16667"/>
            </a:avLst>
          </a:prstGeom>
          <a:solidFill>
            <a:srgbClr val="020817">
              <a:alpha val="92000"/>
            </a:srgbClr>
          </a:solidFill>
          <a:ln w="12383">
            <a:solidFill>
              <a:srgbClr val="23E38C">
                <a:alpha val="80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0" name="pill-num-5">
            <a:extLst>
              <a:ext uri="{FF2B5EF4-FFF2-40B4-BE49-F238E27FC236}">
                <a16:creationId xmlns:a16="http://schemas.microsoft.com/office/drawing/2014/main" id="{0217A2B0-0FB0-450C-97F8-721C9CDA97A6}"/>
              </a:ext>
            </a:extLst>
          </p:cNvPr>
          <p:cNvSpPr>
            <a:spLocks noGrp="1"/>
          </p:cNvSpPr>
          <p:nvPr/>
        </p:nvSpPr>
        <p:spPr>
          <a:xfrm>
            <a:off x="9810750" y="30956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23E38C"/>
                </a:solidFill>
              </a:defRPr>
            </a:pPr>
            <a:r>
              <a:rPr sz="1875" b="1">
                <a:solidFill>
                  <a:srgbClr val="23E38C"/>
                </a:solidFill>
              </a:rPr>
              <a:t>5</a:t>
            </a:r>
          </a:p>
        </p:txBody>
      </p:sp>
      <p:sp>
        <p:nvSpPr>
          <p:cNvPr id="21" name="pill-label-5">
            <a:extLst>
              <a:ext uri="{FF2B5EF4-FFF2-40B4-BE49-F238E27FC236}">
                <a16:creationId xmlns:a16="http://schemas.microsoft.com/office/drawing/2014/main" id="{189F7897-DCAF-44A0-819D-57AFA8A8EE0E}"/>
              </a:ext>
            </a:extLst>
          </p:cNvPr>
          <p:cNvSpPr>
            <a:spLocks noGrp="1"/>
          </p:cNvSpPr>
          <p:nvPr/>
        </p:nvSpPr>
        <p:spPr>
          <a:xfrm>
            <a:off x="10287000" y="3086100"/>
            <a:ext cx="1085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7FBFF"/>
                </a:solidFill>
              </a:defRPr>
            </a:pPr>
            <a:r>
              <a:rPr sz="1275" b="1">
                <a:solidFill>
                  <a:srgbClr val="F7FBFF"/>
                </a:solidFill>
              </a:rPr>
              <a:t>Validate</a:t>
            </a:r>
          </a:p>
        </p:txBody>
      </p:sp>
      <p:sp>
        <p:nvSpPr>
          <p:cNvPr id="22" name="signals">
            <a:extLst>
              <a:ext uri="{FF2B5EF4-FFF2-40B4-BE49-F238E27FC236}">
                <a16:creationId xmlns:a16="http://schemas.microsoft.com/office/drawing/2014/main" id="{30E8E102-747B-43AC-BFB9-65F6D73386B2}"/>
              </a:ext>
            </a:extLst>
          </p:cNvPr>
          <p:cNvSpPr>
            <a:spLocks noGrp="1"/>
          </p:cNvSpPr>
          <p:nvPr/>
        </p:nvSpPr>
        <p:spPr>
          <a:xfrm>
            <a:off x="781050" y="3857625"/>
            <a:ext cx="2362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A9BDD8"/>
                </a:solidFill>
              </a:defRPr>
            </a:pPr>
            <a:r>
              <a:rPr sz="1050" b="0">
                <a:solidFill>
                  <a:srgbClr val="A9BDD8"/>
                </a:solidFill>
              </a:rPr>
              <a:t>Views  •  Searches  •  Clicks  •  Dwell  •  Cart</a:t>
            </a:r>
          </a:p>
        </p:txBody>
      </p:sp>
      <p:sp>
        <p:nvSpPr>
          <p:cNvPr id="23" name="intent">
            <a:extLst>
              <a:ext uri="{FF2B5EF4-FFF2-40B4-BE49-F238E27FC236}">
                <a16:creationId xmlns:a16="http://schemas.microsoft.com/office/drawing/2014/main" id="{2AF177D7-C0CF-4526-B8FE-9414C4DC450B}"/>
              </a:ext>
            </a:extLst>
          </p:cNvPr>
          <p:cNvSpPr>
            <a:spLocks noGrp="1"/>
          </p:cNvSpPr>
          <p:nvPr/>
        </p:nvSpPr>
        <p:spPr>
          <a:xfrm>
            <a:off x="3028950" y="3857625"/>
            <a:ext cx="1885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A9BDD8"/>
                </a:solidFill>
              </a:defRPr>
            </a:pPr>
            <a:r>
              <a:rPr sz="1050" b="0">
                <a:solidFill>
                  <a:srgbClr val="A9BDD8"/>
                </a:solidFill>
              </a:rPr>
              <a:t>Weighted intent + fingerprint</a:t>
            </a:r>
          </a:p>
        </p:txBody>
      </p:sp>
      <p:sp>
        <p:nvSpPr>
          <p:cNvPr id="24" name="rag">
            <a:extLst>
              <a:ext uri="{FF2B5EF4-FFF2-40B4-BE49-F238E27FC236}">
                <a16:creationId xmlns:a16="http://schemas.microsoft.com/office/drawing/2014/main" id="{FA0AEC12-1377-4468-9343-BB2FBC28440A}"/>
              </a:ext>
            </a:extLst>
          </p:cNvPr>
          <p:cNvSpPr>
            <a:spLocks noGrp="1"/>
          </p:cNvSpPr>
          <p:nvPr/>
        </p:nvSpPr>
        <p:spPr>
          <a:xfrm>
            <a:off x="5257800" y="3857625"/>
            <a:ext cx="1847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A9BDD8"/>
                </a:solidFill>
              </a:defRPr>
            </a:pPr>
            <a:r>
              <a:rPr sz="1050" b="0">
                <a:solidFill>
                  <a:srgbClr val="A9BDD8"/>
                </a:solidFill>
              </a:rPr>
              <a:t>Hybrid search + diversity</a:t>
            </a:r>
          </a:p>
        </p:txBody>
      </p:sp>
      <p:sp>
        <p:nvSpPr>
          <p:cNvPr id="25" name="narrative">
            <a:extLst>
              <a:ext uri="{FF2B5EF4-FFF2-40B4-BE49-F238E27FC236}">
                <a16:creationId xmlns:a16="http://schemas.microsoft.com/office/drawing/2014/main" id="{F50D5AC1-F3D4-417A-8BB3-C59289C8FEB7}"/>
              </a:ext>
            </a:extLst>
          </p:cNvPr>
          <p:cNvSpPr>
            <a:spLocks noGrp="1"/>
          </p:cNvSpPr>
          <p:nvPr/>
        </p:nvSpPr>
        <p:spPr>
          <a:xfrm>
            <a:off x="7524750" y="3857625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A9BDD8"/>
                </a:solidFill>
              </a:defRPr>
            </a:pPr>
            <a:r>
              <a:rPr sz="1050" b="0">
                <a:solidFill>
                  <a:srgbClr val="A9BDD8"/>
                </a:solidFill>
              </a:rPr>
              <a:t>Grounded Mesh narrative</a:t>
            </a:r>
          </a:p>
        </p:txBody>
      </p:sp>
      <p:sp>
        <p:nvSpPr>
          <p:cNvPr id="26" name="catalog">
            <a:extLst>
              <a:ext uri="{FF2B5EF4-FFF2-40B4-BE49-F238E27FC236}">
                <a16:creationId xmlns:a16="http://schemas.microsoft.com/office/drawing/2014/main" id="{85A315C2-ABA7-4E4E-89E8-A68D44F1C562}"/>
              </a:ext>
            </a:extLst>
          </p:cNvPr>
          <p:cNvSpPr>
            <a:spLocks noGrp="1"/>
          </p:cNvSpPr>
          <p:nvPr/>
        </p:nvSpPr>
        <p:spPr>
          <a:xfrm>
            <a:off x="9791700" y="3857625"/>
            <a:ext cx="1581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A9BDD8"/>
                </a:solidFill>
              </a:defRPr>
            </a:pPr>
            <a:r>
              <a:rPr sz="1050" b="0">
                <a:solidFill>
                  <a:srgbClr val="A9BDD8"/>
                </a:solidFill>
              </a:rPr>
              <a:t>Active SQL IDs only</a:t>
            </a:r>
          </a:p>
        </p:txBody>
      </p:sp>
      <p:sp>
        <p:nvSpPr>
          <p:cNvPr id="27" name="bottom-strip">
            <a:extLst>
              <a:ext uri="{FF2B5EF4-FFF2-40B4-BE49-F238E27FC236}">
                <a16:creationId xmlns:a16="http://schemas.microsoft.com/office/drawing/2014/main" id="{7B8D8FE7-4BC5-4DC0-B52B-EF4C61B05FC6}"/>
              </a:ext>
            </a:extLst>
          </p:cNvPr>
          <p:cNvSpPr>
            <a:spLocks noGrp="1"/>
          </p:cNvSpPr>
          <p:nvPr/>
        </p:nvSpPr>
        <p:spPr>
          <a:xfrm>
            <a:off x="457200" y="5048250"/>
            <a:ext cx="11277600" cy="1276350"/>
          </a:xfrm>
          <a:prstGeom prst="roundRect">
            <a:avLst>
              <a:gd name="adj" fmla="val 8955"/>
            </a:avLst>
          </a:prstGeom>
          <a:solidFill>
            <a:srgbClr val="061831">
              <a:alpha val="92000"/>
            </a:srgbClr>
          </a:solidFill>
          <a:ln w="12383">
            <a:solidFill>
              <a:srgbClr val="24D7FF">
                <a:alpha val="36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8" name="why-title">
            <a:extLst>
              <a:ext uri="{FF2B5EF4-FFF2-40B4-BE49-F238E27FC236}">
                <a16:creationId xmlns:a16="http://schemas.microsoft.com/office/drawing/2014/main" id="{6B684CBC-6E52-40D3-A66B-C79D6C315C6F}"/>
              </a:ext>
            </a:extLst>
          </p:cNvPr>
          <p:cNvSpPr>
            <a:spLocks noGrp="1"/>
          </p:cNvSpPr>
          <p:nvPr/>
        </p:nvSpPr>
        <p:spPr>
          <a:xfrm>
            <a:off x="666750" y="521970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4D7FF"/>
                </a:solidFill>
              </a:defRPr>
            </a:pPr>
            <a:r>
              <a:rPr sz="1050" b="1">
                <a:solidFill>
                  <a:srgbClr val="24D7FF"/>
                </a:solidFill>
              </a:rPr>
              <a:t>WHY IT STANDS OUT</a:t>
            </a:r>
          </a:p>
        </p:txBody>
      </p:sp>
      <p:sp>
        <p:nvSpPr>
          <p:cNvPr id="29" name="why-copy">
            <a:extLst>
              <a:ext uri="{FF2B5EF4-FFF2-40B4-BE49-F238E27FC236}">
                <a16:creationId xmlns:a16="http://schemas.microsoft.com/office/drawing/2014/main" id="{953B37EA-665B-4EEC-9804-EEAF187FE341}"/>
              </a:ext>
            </a:extLst>
          </p:cNvPr>
          <p:cNvSpPr>
            <a:spLocks noGrp="1"/>
          </p:cNvSpPr>
          <p:nvPr/>
        </p:nvSpPr>
        <p:spPr>
          <a:xfrm>
            <a:off x="666750" y="5514975"/>
            <a:ext cx="5715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7FBFF"/>
                </a:solidFill>
              </a:defRPr>
            </a:pPr>
            <a:r>
              <a:rPr sz="1500" b="1">
                <a:solidFill>
                  <a:srgbClr val="F7FBFF"/>
                </a:solidFill>
              </a:rPr>
              <a:t>Adaptive recommendations stay stable between meaningful behavior changes—reducing AI cost while keeping the experience relevant.</a:t>
            </a:r>
          </a:p>
        </p:txBody>
      </p:sp>
      <p:sp>
        <p:nvSpPr>
          <p:cNvPr id="30" name="metric1">
            <a:extLst>
              <a:ext uri="{FF2B5EF4-FFF2-40B4-BE49-F238E27FC236}">
                <a16:creationId xmlns:a16="http://schemas.microsoft.com/office/drawing/2014/main" id="{19FBD2DC-64D3-4F90-8D35-4BD1D1AEDBF2}"/>
              </a:ext>
            </a:extLst>
          </p:cNvPr>
          <p:cNvSpPr>
            <a:spLocks noGrp="1"/>
          </p:cNvSpPr>
          <p:nvPr/>
        </p:nvSpPr>
        <p:spPr>
          <a:xfrm>
            <a:off x="7086600" y="5276850"/>
            <a:ext cx="114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24D7FF"/>
                </a:solidFill>
              </a:defRPr>
            </a:pPr>
            <a:r>
              <a:rPr sz="2025" b="1">
                <a:solidFill>
                  <a:srgbClr val="24D7FF"/>
                </a:solidFill>
              </a:rPr>
              <a:t>20 min</a:t>
            </a:r>
          </a:p>
        </p:txBody>
      </p:sp>
      <p:sp>
        <p:nvSpPr>
          <p:cNvPr id="31" name="metric1b">
            <a:extLst>
              <a:ext uri="{FF2B5EF4-FFF2-40B4-BE49-F238E27FC236}">
                <a16:creationId xmlns:a16="http://schemas.microsoft.com/office/drawing/2014/main" id="{5BC192ED-14C7-4AD0-B341-4E878265B90A}"/>
              </a:ext>
            </a:extLst>
          </p:cNvPr>
          <p:cNvSpPr>
            <a:spLocks noGrp="1"/>
          </p:cNvSpPr>
          <p:nvPr/>
        </p:nvSpPr>
        <p:spPr>
          <a:xfrm>
            <a:off x="7086600" y="56959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A9BDD8"/>
                </a:solidFill>
              </a:defRPr>
            </a:pPr>
            <a:r>
              <a:rPr sz="1050" b="0">
                <a:solidFill>
                  <a:srgbClr val="A9BDD8"/>
                </a:solidFill>
              </a:rPr>
              <a:t>cooldown</a:t>
            </a:r>
          </a:p>
        </p:txBody>
      </p:sp>
      <p:sp>
        <p:nvSpPr>
          <p:cNvPr id="32" name="metric2">
            <a:extLst>
              <a:ext uri="{FF2B5EF4-FFF2-40B4-BE49-F238E27FC236}">
                <a16:creationId xmlns:a16="http://schemas.microsoft.com/office/drawing/2014/main" id="{C262A994-6F53-471D-953F-54B44EAF7F33}"/>
              </a:ext>
            </a:extLst>
          </p:cNvPr>
          <p:cNvSpPr>
            <a:spLocks noGrp="1"/>
          </p:cNvSpPr>
          <p:nvPr/>
        </p:nvSpPr>
        <p:spPr>
          <a:xfrm>
            <a:off x="8515350" y="5276850"/>
            <a:ext cx="95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8B5CF6"/>
                </a:solidFill>
              </a:defRPr>
            </a:pPr>
            <a:r>
              <a:rPr sz="2025" b="1">
                <a:solidFill>
                  <a:srgbClr val="8B5CF6"/>
                </a:solidFill>
              </a:rPr>
              <a:t>50</a:t>
            </a:r>
          </a:p>
        </p:txBody>
      </p:sp>
      <p:sp>
        <p:nvSpPr>
          <p:cNvPr id="33" name="metric2b">
            <a:extLst>
              <a:ext uri="{FF2B5EF4-FFF2-40B4-BE49-F238E27FC236}">
                <a16:creationId xmlns:a16="http://schemas.microsoft.com/office/drawing/2014/main" id="{DCFAA825-AC44-472A-9BA6-1163379C3777}"/>
              </a:ext>
            </a:extLst>
          </p:cNvPr>
          <p:cNvSpPr>
            <a:spLocks noGrp="1"/>
          </p:cNvSpPr>
          <p:nvPr/>
        </p:nvSpPr>
        <p:spPr>
          <a:xfrm>
            <a:off x="8420100" y="56959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A9BDD8"/>
                </a:solidFill>
              </a:defRPr>
            </a:pPr>
            <a:r>
              <a:rPr sz="1050" b="0">
                <a:solidFill>
                  <a:srgbClr val="A9BDD8"/>
                </a:solidFill>
              </a:rPr>
              <a:t>event batch</a:t>
            </a:r>
          </a:p>
        </p:txBody>
      </p:sp>
      <p:sp>
        <p:nvSpPr>
          <p:cNvPr id="34" name="metric3">
            <a:extLst>
              <a:ext uri="{FF2B5EF4-FFF2-40B4-BE49-F238E27FC236}">
                <a16:creationId xmlns:a16="http://schemas.microsoft.com/office/drawing/2014/main" id="{C28FB4D0-5ADC-4518-8896-947177BDDFD9}"/>
              </a:ext>
            </a:extLst>
          </p:cNvPr>
          <p:cNvSpPr>
            <a:spLocks noGrp="1"/>
          </p:cNvSpPr>
          <p:nvPr/>
        </p:nvSpPr>
        <p:spPr>
          <a:xfrm>
            <a:off x="9944100" y="5276850"/>
            <a:ext cx="1200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23E38C"/>
                </a:solidFill>
              </a:defRPr>
            </a:pPr>
            <a:r>
              <a:rPr sz="2025" b="1">
                <a:solidFill>
                  <a:srgbClr val="23E38C"/>
                </a:solidFill>
              </a:rPr>
              <a:t>100%</a:t>
            </a:r>
          </a:p>
        </p:txBody>
      </p:sp>
      <p:sp>
        <p:nvSpPr>
          <p:cNvPr id="35" name="metric3b">
            <a:extLst>
              <a:ext uri="{FF2B5EF4-FFF2-40B4-BE49-F238E27FC236}">
                <a16:creationId xmlns:a16="http://schemas.microsoft.com/office/drawing/2014/main" id="{95DA29FC-8C54-45AC-8950-E67D230F6650}"/>
              </a:ext>
            </a:extLst>
          </p:cNvPr>
          <p:cNvSpPr>
            <a:spLocks noGrp="1"/>
          </p:cNvSpPr>
          <p:nvPr/>
        </p:nvSpPr>
        <p:spPr>
          <a:xfrm>
            <a:off x="9791700" y="5695950"/>
            <a:ext cx="1504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A9BDD8"/>
                </a:solidFill>
              </a:defRPr>
            </a:pPr>
            <a:r>
              <a:rPr sz="1050" b="0">
                <a:solidFill>
                  <a:srgbClr val="A9BDD8"/>
                </a:solidFill>
              </a:rPr>
              <a:t>catalog validated</a:t>
            </a:r>
          </a:p>
        </p:txBody>
      </p:sp>
      <p:sp>
        <p:nvSpPr>
          <p:cNvPr id="36" name="page1">
            <a:extLst>
              <a:ext uri="{FF2B5EF4-FFF2-40B4-BE49-F238E27FC236}">
                <a16:creationId xmlns:a16="http://schemas.microsoft.com/office/drawing/2014/main" id="{322CD018-A56A-4F1D-82D5-06C138361981}"/>
              </a:ext>
            </a:extLst>
          </p:cNvPr>
          <p:cNvSpPr>
            <a:spLocks noGrp="1"/>
          </p:cNvSpPr>
          <p:nvPr/>
        </p:nvSpPr>
        <p:spPr>
          <a:xfrm>
            <a:off x="11391900" y="6438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A9BDD8"/>
                </a:solidFill>
              </a:defRPr>
            </a:pPr>
            <a:r>
              <a:rPr sz="825" b="1">
                <a:solidFill>
                  <a:srgbClr val="A9BDD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50033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rk-overlay">
            <a:extLst>
              <a:ext uri="{FF2B5EF4-FFF2-40B4-BE49-F238E27FC236}">
                <a16:creationId xmlns:a16="http://schemas.microsoft.com/office/drawing/2014/main" id="{585C516C-13AF-4E37-B55C-6C7CE2E5AC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817">
              <a:alpha val="91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425D976C-EEEC-446C-889B-A0EBD8173F1D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4D7FF"/>
                </a:solidFill>
              </a:defRPr>
            </a:pPr>
            <a:r>
              <a:rPr sz="1050" b="1">
                <a:solidFill>
                  <a:srgbClr val="24D7FF"/>
                </a:solidFill>
              </a:rPr>
              <a:t>AGENTIC RAG  •  RELIABLE OPERATIONS  •  RESPONSIBLE PERSONALIZATION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F84CBB69-C988-465F-A81C-9DE83DF14007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9334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>
                <a:solidFill>
                  <a:srgbClr val="F7FBFF"/>
                </a:solidFill>
              </a:defRPr>
            </a:pPr>
            <a:r>
              <a:rPr sz="3000" b="1">
                <a:solidFill>
                  <a:srgbClr val="F7FBFF"/>
                </a:solidFill>
              </a:rPr>
              <a:t>Built for the demo—and engineered beyond it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A6F5EBEA-F226-49A3-BBC7-9C6BA469AC4F}"/>
              </a:ext>
            </a:extLst>
          </p:cNvPr>
          <p:cNvSpPr>
            <a:spLocks noGrp="1"/>
          </p:cNvSpPr>
          <p:nvPr/>
        </p:nvSpPr>
        <p:spPr>
          <a:xfrm>
            <a:off x="533400" y="1400175"/>
            <a:ext cx="838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A9BDD8"/>
                </a:solidFill>
              </a:defRPr>
            </a:pPr>
            <a:r>
              <a:rPr sz="1425" b="0">
                <a:solidFill>
                  <a:srgbClr val="A9BDD8"/>
                </a:solidFill>
              </a:rPr>
              <a:t>A server-rendered marketplace with one controlled path from behavior to a grounded recommendation.</a:t>
            </a:r>
          </a:p>
        </p:txBody>
      </p:sp>
      <p:sp>
        <p:nvSpPr>
          <p:cNvPr id="6" name="architecture">
            <a:extLst>
              <a:ext uri="{FF2B5EF4-FFF2-40B4-BE49-F238E27FC236}">
                <a16:creationId xmlns:a16="http://schemas.microsoft.com/office/drawing/2014/main" id="{128B7D19-9872-4398-A5BF-A3E18D177A6F}"/>
              </a:ext>
            </a:extLst>
          </p:cNvPr>
          <p:cNvSpPr>
            <a:spLocks noGrp="1"/>
          </p:cNvSpPr>
          <p:nvPr/>
        </p:nvSpPr>
        <p:spPr>
          <a:xfrm>
            <a:off x="457200" y="2095500"/>
            <a:ext cx="11277600" cy="2038350"/>
          </a:xfrm>
          <a:prstGeom prst="roundRect">
            <a:avLst>
              <a:gd name="adj" fmla="val 5607"/>
            </a:avLst>
          </a:prstGeom>
          <a:solidFill>
            <a:srgbClr val="041127">
              <a:alpha val="94000"/>
            </a:srgbClr>
          </a:solidFill>
          <a:ln w="12383">
            <a:solidFill>
              <a:srgbClr val="8B5CF6">
                <a:alpha val="62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node-0">
            <a:extLst>
              <a:ext uri="{FF2B5EF4-FFF2-40B4-BE49-F238E27FC236}">
                <a16:creationId xmlns:a16="http://schemas.microsoft.com/office/drawing/2014/main" id="{711B4029-2DCB-4148-8EAD-A6F00710CB58}"/>
              </a:ext>
            </a:extLst>
          </p:cNvPr>
          <p:cNvSpPr>
            <a:spLocks noGrp="1"/>
          </p:cNvSpPr>
          <p:nvPr/>
        </p:nvSpPr>
        <p:spPr>
          <a:xfrm>
            <a:off x="666750" y="2543175"/>
            <a:ext cx="1866900" cy="1123950"/>
          </a:xfrm>
          <a:prstGeom prst="roundRect">
            <a:avLst>
              <a:gd name="adj" fmla="val 10169"/>
            </a:avLst>
          </a:prstGeom>
          <a:solidFill>
            <a:srgbClr val="020817">
              <a:alpha val="96000"/>
            </a:srgbClr>
          </a:solidFill>
          <a:ln w="12383">
            <a:solidFill>
              <a:srgbClr val="24D7FF">
                <a:alpha val="80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node-num-0">
            <a:extLst>
              <a:ext uri="{FF2B5EF4-FFF2-40B4-BE49-F238E27FC236}">
                <a16:creationId xmlns:a16="http://schemas.microsoft.com/office/drawing/2014/main" id="{446D33ED-AD9F-477A-B3F1-4739612E9634}"/>
              </a:ext>
            </a:extLst>
          </p:cNvPr>
          <p:cNvSpPr>
            <a:spLocks noGrp="1"/>
          </p:cNvSpPr>
          <p:nvPr/>
        </p:nvSpPr>
        <p:spPr>
          <a:xfrm>
            <a:off x="800100" y="2657475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24D7FF"/>
                </a:solidFill>
              </a:defRPr>
            </a:pPr>
            <a:r>
              <a:rPr sz="1200" b="1">
                <a:solidFill>
                  <a:srgbClr val="24D7FF"/>
                </a:solidFill>
              </a:rPr>
              <a:t>1</a:t>
            </a:r>
          </a:p>
        </p:txBody>
      </p:sp>
      <p:sp>
        <p:nvSpPr>
          <p:cNvPr id="9" name="node-title-0">
            <a:extLst>
              <a:ext uri="{FF2B5EF4-FFF2-40B4-BE49-F238E27FC236}">
                <a16:creationId xmlns:a16="http://schemas.microsoft.com/office/drawing/2014/main" id="{3A1C63E7-FA47-409E-B196-2CC7AF9470EE}"/>
              </a:ext>
            </a:extLst>
          </p:cNvPr>
          <p:cNvSpPr>
            <a:spLocks noGrp="1"/>
          </p:cNvSpPr>
          <p:nvPr/>
        </p:nvSpPr>
        <p:spPr>
          <a:xfrm>
            <a:off x="1143000" y="2628900"/>
            <a:ext cx="1200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7FBFF"/>
                </a:solidFill>
              </a:defRPr>
            </a:pPr>
            <a:r>
              <a:rPr sz="1500" b="1">
                <a:solidFill>
                  <a:srgbClr val="F7FBFF"/>
                </a:solidFill>
              </a:rPr>
              <a:t>Analyze</a:t>
            </a:r>
          </a:p>
        </p:txBody>
      </p:sp>
      <p:sp>
        <p:nvSpPr>
          <p:cNvPr id="10" name="node-detail-0">
            <a:extLst>
              <a:ext uri="{FF2B5EF4-FFF2-40B4-BE49-F238E27FC236}">
                <a16:creationId xmlns:a16="http://schemas.microsoft.com/office/drawing/2014/main" id="{365A09C8-52EE-453B-9E62-650F676F9F09}"/>
              </a:ext>
            </a:extLst>
          </p:cNvPr>
          <p:cNvSpPr>
            <a:spLocks noGrp="1"/>
          </p:cNvSpPr>
          <p:nvPr/>
        </p:nvSpPr>
        <p:spPr>
          <a:xfrm>
            <a:off x="838200" y="3086100"/>
            <a:ext cx="152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A9BDD8"/>
                </a:solidFill>
              </a:defRPr>
            </a:pPr>
            <a:r>
              <a:rPr sz="1050" b="0">
                <a:solidFill>
                  <a:srgbClr val="A9BDD8"/>
                </a:solidFill>
              </a:rPr>
              <a:t>Intent + recency</a:t>
            </a:r>
          </a:p>
        </p:txBody>
      </p:sp>
      <p:sp>
        <p:nvSpPr>
          <p:cNvPr id="11" name="arrow-0">
            <a:extLst>
              <a:ext uri="{FF2B5EF4-FFF2-40B4-BE49-F238E27FC236}">
                <a16:creationId xmlns:a16="http://schemas.microsoft.com/office/drawing/2014/main" id="{EEB1AFBF-5781-4464-8EB0-967A40018A23}"/>
              </a:ext>
            </a:extLst>
          </p:cNvPr>
          <p:cNvSpPr>
            <a:spLocks noGrp="1"/>
          </p:cNvSpPr>
          <p:nvPr/>
        </p:nvSpPr>
        <p:spPr>
          <a:xfrm>
            <a:off x="2590800" y="2800350"/>
            <a:ext cx="228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250" b="1">
                <a:solidFill>
                  <a:srgbClr val="24D7FF"/>
                </a:solidFill>
              </a:defRPr>
            </a:pPr>
            <a:r>
              <a:rPr sz="2250" b="1">
                <a:solidFill>
                  <a:srgbClr val="24D7FF"/>
                </a:solidFill>
              </a:rPr>
              <a:t>›</a:t>
            </a:r>
          </a:p>
        </p:txBody>
      </p:sp>
      <p:sp>
        <p:nvSpPr>
          <p:cNvPr id="12" name="node-1">
            <a:extLst>
              <a:ext uri="{FF2B5EF4-FFF2-40B4-BE49-F238E27FC236}">
                <a16:creationId xmlns:a16="http://schemas.microsoft.com/office/drawing/2014/main" id="{1C70E490-DECB-481C-A140-57B2A5D88379}"/>
              </a:ext>
            </a:extLst>
          </p:cNvPr>
          <p:cNvSpPr>
            <a:spLocks noGrp="1"/>
          </p:cNvSpPr>
          <p:nvPr/>
        </p:nvSpPr>
        <p:spPr>
          <a:xfrm>
            <a:off x="2895600" y="2543175"/>
            <a:ext cx="1866900" cy="1123950"/>
          </a:xfrm>
          <a:prstGeom prst="roundRect">
            <a:avLst>
              <a:gd name="adj" fmla="val 10169"/>
            </a:avLst>
          </a:prstGeom>
          <a:solidFill>
            <a:srgbClr val="020817">
              <a:alpha val="96000"/>
            </a:srgbClr>
          </a:solidFill>
          <a:ln w="12383">
            <a:solidFill>
              <a:srgbClr val="2B7FFF">
                <a:alpha val="80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3" name="node-num-1">
            <a:extLst>
              <a:ext uri="{FF2B5EF4-FFF2-40B4-BE49-F238E27FC236}">
                <a16:creationId xmlns:a16="http://schemas.microsoft.com/office/drawing/2014/main" id="{479DEAD4-47C1-447D-8C14-C10A6ECE6560}"/>
              </a:ext>
            </a:extLst>
          </p:cNvPr>
          <p:cNvSpPr>
            <a:spLocks noGrp="1"/>
          </p:cNvSpPr>
          <p:nvPr/>
        </p:nvSpPr>
        <p:spPr>
          <a:xfrm>
            <a:off x="3028950" y="2657475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2B7FFF"/>
                </a:solidFill>
              </a:defRPr>
            </a:pPr>
            <a:r>
              <a:rPr sz="1200" b="1">
                <a:solidFill>
                  <a:srgbClr val="2B7FFF"/>
                </a:solidFill>
              </a:rPr>
              <a:t>2</a:t>
            </a:r>
          </a:p>
        </p:txBody>
      </p:sp>
      <p:sp>
        <p:nvSpPr>
          <p:cNvPr id="14" name="node-title-1">
            <a:extLst>
              <a:ext uri="{FF2B5EF4-FFF2-40B4-BE49-F238E27FC236}">
                <a16:creationId xmlns:a16="http://schemas.microsoft.com/office/drawing/2014/main" id="{3BBFA1A0-4027-4800-8DF9-6B68CC670EAA}"/>
              </a:ext>
            </a:extLst>
          </p:cNvPr>
          <p:cNvSpPr>
            <a:spLocks noGrp="1"/>
          </p:cNvSpPr>
          <p:nvPr/>
        </p:nvSpPr>
        <p:spPr>
          <a:xfrm>
            <a:off x="3371850" y="2628900"/>
            <a:ext cx="1200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7FBFF"/>
                </a:solidFill>
              </a:defRPr>
            </a:pPr>
            <a:r>
              <a:rPr sz="1500" b="1">
                <a:solidFill>
                  <a:srgbClr val="F7FBFF"/>
                </a:solidFill>
              </a:rPr>
              <a:t>Retrieve</a:t>
            </a:r>
          </a:p>
        </p:txBody>
      </p:sp>
      <p:sp>
        <p:nvSpPr>
          <p:cNvPr id="15" name="node-detail-1">
            <a:extLst>
              <a:ext uri="{FF2B5EF4-FFF2-40B4-BE49-F238E27FC236}">
                <a16:creationId xmlns:a16="http://schemas.microsoft.com/office/drawing/2014/main" id="{B992BBB6-180F-446A-A263-D7CF08AEB99C}"/>
              </a:ext>
            </a:extLst>
          </p:cNvPr>
          <p:cNvSpPr>
            <a:spLocks noGrp="1"/>
          </p:cNvSpPr>
          <p:nvPr/>
        </p:nvSpPr>
        <p:spPr>
          <a:xfrm>
            <a:off x="3067050" y="3086100"/>
            <a:ext cx="152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A9BDD8"/>
                </a:solidFill>
              </a:defRPr>
            </a:pPr>
            <a:r>
              <a:rPr sz="1050" b="0">
                <a:solidFill>
                  <a:srgbClr val="A9BDD8"/>
                </a:solidFill>
              </a:rPr>
              <a:t>SQL + Chroma</a:t>
            </a:r>
          </a:p>
        </p:txBody>
      </p:sp>
      <p:sp>
        <p:nvSpPr>
          <p:cNvPr id="16" name="arrow-1">
            <a:extLst>
              <a:ext uri="{FF2B5EF4-FFF2-40B4-BE49-F238E27FC236}">
                <a16:creationId xmlns:a16="http://schemas.microsoft.com/office/drawing/2014/main" id="{90A87062-6ED7-49B2-9F21-B0DD9FAD7A85}"/>
              </a:ext>
            </a:extLst>
          </p:cNvPr>
          <p:cNvSpPr>
            <a:spLocks noGrp="1"/>
          </p:cNvSpPr>
          <p:nvPr/>
        </p:nvSpPr>
        <p:spPr>
          <a:xfrm>
            <a:off x="4819650" y="2800350"/>
            <a:ext cx="228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250" b="1">
                <a:solidFill>
                  <a:srgbClr val="2B7FFF"/>
                </a:solidFill>
              </a:defRPr>
            </a:pPr>
            <a:r>
              <a:rPr sz="2250" b="1">
                <a:solidFill>
                  <a:srgbClr val="2B7FFF"/>
                </a:solidFill>
              </a:rPr>
              <a:t>›</a:t>
            </a:r>
          </a:p>
        </p:txBody>
      </p:sp>
      <p:sp>
        <p:nvSpPr>
          <p:cNvPr id="17" name="node-2">
            <a:extLst>
              <a:ext uri="{FF2B5EF4-FFF2-40B4-BE49-F238E27FC236}">
                <a16:creationId xmlns:a16="http://schemas.microsoft.com/office/drawing/2014/main" id="{06941FAB-842E-4F6A-99E4-4E82744CB04A}"/>
              </a:ext>
            </a:extLst>
          </p:cNvPr>
          <p:cNvSpPr>
            <a:spLocks noGrp="1"/>
          </p:cNvSpPr>
          <p:nvPr/>
        </p:nvSpPr>
        <p:spPr>
          <a:xfrm>
            <a:off x="5124450" y="2543175"/>
            <a:ext cx="1866900" cy="1123950"/>
          </a:xfrm>
          <a:prstGeom prst="roundRect">
            <a:avLst>
              <a:gd name="adj" fmla="val 10169"/>
            </a:avLst>
          </a:prstGeom>
          <a:solidFill>
            <a:srgbClr val="020817">
              <a:alpha val="96000"/>
            </a:srgbClr>
          </a:solidFill>
          <a:ln w="12383">
            <a:solidFill>
              <a:srgbClr val="8B5CF6">
                <a:alpha val="80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8" name="node-num-2">
            <a:extLst>
              <a:ext uri="{FF2B5EF4-FFF2-40B4-BE49-F238E27FC236}">
                <a16:creationId xmlns:a16="http://schemas.microsoft.com/office/drawing/2014/main" id="{293328CC-9998-496B-8963-A9943A58937E}"/>
              </a:ext>
            </a:extLst>
          </p:cNvPr>
          <p:cNvSpPr>
            <a:spLocks noGrp="1"/>
          </p:cNvSpPr>
          <p:nvPr/>
        </p:nvSpPr>
        <p:spPr>
          <a:xfrm>
            <a:off x="5257800" y="2657475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8B5CF6"/>
                </a:solidFill>
              </a:defRPr>
            </a:pPr>
            <a:r>
              <a:rPr sz="1200" b="1">
                <a:solidFill>
                  <a:srgbClr val="8B5CF6"/>
                </a:solidFill>
              </a:rPr>
              <a:t>3</a:t>
            </a:r>
          </a:p>
        </p:txBody>
      </p:sp>
      <p:sp>
        <p:nvSpPr>
          <p:cNvPr id="19" name="node-title-2">
            <a:extLst>
              <a:ext uri="{FF2B5EF4-FFF2-40B4-BE49-F238E27FC236}">
                <a16:creationId xmlns:a16="http://schemas.microsoft.com/office/drawing/2014/main" id="{CD91627F-76AC-4E9A-A3E8-AD311BF80476}"/>
              </a:ext>
            </a:extLst>
          </p:cNvPr>
          <p:cNvSpPr>
            <a:spLocks noGrp="1"/>
          </p:cNvSpPr>
          <p:nvPr/>
        </p:nvSpPr>
        <p:spPr>
          <a:xfrm>
            <a:off x="5600700" y="2628900"/>
            <a:ext cx="1200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7FBFF"/>
                </a:solidFill>
              </a:defRPr>
            </a:pPr>
            <a:r>
              <a:rPr sz="1500" b="1">
                <a:solidFill>
                  <a:srgbClr val="F7FBFF"/>
                </a:solidFill>
              </a:rPr>
              <a:t>Rerank</a:t>
            </a:r>
          </a:p>
        </p:txBody>
      </p:sp>
      <p:sp>
        <p:nvSpPr>
          <p:cNvPr id="20" name="node-detail-2">
            <a:extLst>
              <a:ext uri="{FF2B5EF4-FFF2-40B4-BE49-F238E27FC236}">
                <a16:creationId xmlns:a16="http://schemas.microsoft.com/office/drawing/2014/main" id="{747DF483-C0C0-461F-A51F-4B33571060C3}"/>
              </a:ext>
            </a:extLst>
          </p:cNvPr>
          <p:cNvSpPr>
            <a:spLocks noGrp="1"/>
          </p:cNvSpPr>
          <p:nvPr/>
        </p:nvSpPr>
        <p:spPr>
          <a:xfrm>
            <a:off x="5295900" y="3086100"/>
            <a:ext cx="152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A9BDD8"/>
                </a:solidFill>
              </a:defRPr>
            </a:pPr>
            <a:r>
              <a:rPr sz="1050" b="0">
                <a:solidFill>
                  <a:srgbClr val="A9BDD8"/>
                </a:solidFill>
              </a:rPr>
              <a:t>Relevance + diversity</a:t>
            </a:r>
          </a:p>
        </p:txBody>
      </p:sp>
      <p:sp>
        <p:nvSpPr>
          <p:cNvPr id="21" name="arrow-2">
            <a:extLst>
              <a:ext uri="{FF2B5EF4-FFF2-40B4-BE49-F238E27FC236}">
                <a16:creationId xmlns:a16="http://schemas.microsoft.com/office/drawing/2014/main" id="{CB0A8C0D-E025-4D79-9E3D-D49118C7605C}"/>
              </a:ext>
            </a:extLst>
          </p:cNvPr>
          <p:cNvSpPr>
            <a:spLocks noGrp="1"/>
          </p:cNvSpPr>
          <p:nvPr/>
        </p:nvSpPr>
        <p:spPr>
          <a:xfrm>
            <a:off x="7048500" y="2800350"/>
            <a:ext cx="228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250" b="1">
                <a:solidFill>
                  <a:srgbClr val="8B5CF6"/>
                </a:solidFill>
              </a:defRPr>
            </a:pPr>
            <a:r>
              <a:rPr sz="2250" b="1">
                <a:solidFill>
                  <a:srgbClr val="8B5CF6"/>
                </a:solidFill>
              </a:rPr>
              <a:t>›</a:t>
            </a:r>
          </a:p>
        </p:txBody>
      </p:sp>
      <p:sp>
        <p:nvSpPr>
          <p:cNvPr id="22" name="node-3">
            <a:extLst>
              <a:ext uri="{FF2B5EF4-FFF2-40B4-BE49-F238E27FC236}">
                <a16:creationId xmlns:a16="http://schemas.microsoft.com/office/drawing/2014/main" id="{EF63024D-B626-488C-A0D1-829C7ACDAB00}"/>
              </a:ext>
            </a:extLst>
          </p:cNvPr>
          <p:cNvSpPr>
            <a:spLocks noGrp="1"/>
          </p:cNvSpPr>
          <p:nvPr/>
        </p:nvSpPr>
        <p:spPr>
          <a:xfrm>
            <a:off x="7353300" y="2543175"/>
            <a:ext cx="1866900" cy="1123950"/>
          </a:xfrm>
          <a:prstGeom prst="roundRect">
            <a:avLst>
              <a:gd name="adj" fmla="val 10169"/>
            </a:avLst>
          </a:prstGeom>
          <a:solidFill>
            <a:srgbClr val="020817">
              <a:alpha val="96000"/>
            </a:srgbClr>
          </a:solidFill>
          <a:ln w="12383">
            <a:solidFill>
              <a:srgbClr val="FFB52E">
                <a:alpha val="80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3" name="node-num-3">
            <a:extLst>
              <a:ext uri="{FF2B5EF4-FFF2-40B4-BE49-F238E27FC236}">
                <a16:creationId xmlns:a16="http://schemas.microsoft.com/office/drawing/2014/main" id="{0D21E6E0-F6C7-449B-8198-A843789CB691}"/>
              </a:ext>
            </a:extLst>
          </p:cNvPr>
          <p:cNvSpPr>
            <a:spLocks noGrp="1"/>
          </p:cNvSpPr>
          <p:nvPr/>
        </p:nvSpPr>
        <p:spPr>
          <a:xfrm>
            <a:off x="7486650" y="2657475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B52E"/>
                </a:solidFill>
              </a:defRPr>
            </a:pPr>
            <a:r>
              <a:rPr sz="1200" b="1">
                <a:solidFill>
                  <a:srgbClr val="FFB52E"/>
                </a:solidFill>
              </a:rPr>
              <a:t>4</a:t>
            </a:r>
          </a:p>
        </p:txBody>
      </p:sp>
      <p:sp>
        <p:nvSpPr>
          <p:cNvPr id="24" name="node-title-3">
            <a:extLst>
              <a:ext uri="{FF2B5EF4-FFF2-40B4-BE49-F238E27FC236}">
                <a16:creationId xmlns:a16="http://schemas.microsoft.com/office/drawing/2014/main" id="{88D57CF8-371B-4B34-A467-1EA2B527357E}"/>
              </a:ext>
            </a:extLst>
          </p:cNvPr>
          <p:cNvSpPr>
            <a:spLocks noGrp="1"/>
          </p:cNvSpPr>
          <p:nvPr/>
        </p:nvSpPr>
        <p:spPr>
          <a:xfrm>
            <a:off x="7829550" y="2628900"/>
            <a:ext cx="1200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7FBFF"/>
                </a:solidFill>
              </a:defRPr>
            </a:pPr>
            <a:r>
              <a:rPr sz="1500" b="1">
                <a:solidFill>
                  <a:srgbClr val="F7FBFF"/>
                </a:solidFill>
              </a:rPr>
              <a:t>Generate</a:t>
            </a:r>
          </a:p>
        </p:txBody>
      </p:sp>
      <p:sp>
        <p:nvSpPr>
          <p:cNvPr id="25" name="node-detail-3">
            <a:extLst>
              <a:ext uri="{FF2B5EF4-FFF2-40B4-BE49-F238E27FC236}">
                <a16:creationId xmlns:a16="http://schemas.microsoft.com/office/drawing/2014/main" id="{EE0433EE-DCBE-42D0-83C2-B9C080008AE6}"/>
              </a:ext>
            </a:extLst>
          </p:cNvPr>
          <p:cNvSpPr>
            <a:spLocks noGrp="1"/>
          </p:cNvSpPr>
          <p:nvPr/>
        </p:nvSpPr>
        <p:spPr>
          <a:xfrm>
            <a:off x="7524750" y="3086100"/>
            <a:ext cx="152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A9BDD8"/>
                </a:solidFill>
              </a:defRPr>
            </a:pPr>
            <a:r>
              <a:rPr sz="1050" b="0">
                <a:solidFill>
                  <a:srgbClr val="A9BDD8"/>
                </a:solidFill>
              </a:rPr>
              <a:t>Mesh narrative</a:t>
            </a:r>
          </a:p>
        </p:txBody>
      </p:sp>
      <p:sp>
        <p:nvSpPr>
          <p:cNvPr id="26" name="arrow-3">
            <a:extLst>
              <a:ext uri="{FF2B5EF4-FFF2-40B4-BE49-F238E27FC236}">
                <a16:creationId xmlns:a16="http://schemas.microsoft.com/office/drawing/2014/main" id="{02A42889-CE04-4D08-A513-B823B2B30278}"/>
              </a:ext>
            </a:extLst>
          </p:cNvPr>
          <p:cNvSpPr>
            <a:spLocks noGrp="1"/>
          </p:cNvSpPr>
          <p:nvPr/>
        </p:nvSpPr>
        <p:spPr>
          <a:xfrm>
            <a:off x="9277350" y="2800350"/>
            <a:ext cx="228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250" b="1">
                <a:solidFill>
                  <a:srgbClr val="FFB52E"/>
                </a:solidFill>
              </a:defRPr>
            </a:pPr>
            <a:r>
              <a:rPr sz="2250" b="1">
                <a:solidFill>
                  <a:srgbClr val="FFB52E"/>
                </a:solidFill>
              </a:rPr>
              <a:t>›</a:t>
            </a:r>
          </a:p>
        </p:txBody>
      </p:sp>
      <p:sp>
        <p:nvSpPr>
          <p:cNvPr id="27" name="node-4">
            <a:extLst>
              <a:ext uri="{FF2B5EF4-FFF2-40B4-BE49-F238E27FC236}">
                <a16:creationId xmlns:a16="http://schemas.microsoft.com/office/drawing/2014/main" id="{C81AE270-3291-4375-A942-4582B2BA8BDD}"/>
              </a:ext>
            </a:extLst>
          </p:cNvPr>
          <p:cNvSpPr>
            <a:spLocks noGrp="1"/>
          </p:cNvSpPr>
          <p:nvPr/>
        </p:nvSpPr>
        <p:spPr>
          <a:xfrm>
            <a:off x="9582150" y="2543175"/>
            <a:ext cx="1866900" cy="1123950"/>
          </a:xfrm>
          <a:prstGeom prst="roundRect">
            <a:avLst>
              <a:gd name="adj" fmla="val 10169"/>
            </a:avLst>
          </a:prstGeom>
          <a:solidFill>
            <a:srgbClr val="020817">
              <a:alpha val="96000"/>
            </a:srgbClr>
          </a:solidFill>
          <a:ln w="12383">
            <a:solidFill>
              <a:srgbClr val="23E38C">
                <a:alpha val="80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8" name="node-num-4">
            <a:extLst>
              <a:ext uri="{FF2B5EF4-FFF2-40B4-BE49-F238E27FC236}">
                <a16:creationId xmlns:a16="http://schemas.microsoft.com/office/drawing/2014/main" id="{DF0D883A-D67D-424F-ADC9-105D3D1F52E2}"/>
              </a:ext>
            </a:extLst>
          </p:cNvPr>
          <p:cNvSpPr>
            <a:spLocks noGrp="1"/>
          </p:cNvSpPr>
          <p:nvPr/>
        </p:nvSpPr>
        <p:spPr>
          <a:xfrm>
            <a:off x="9715500" y="2657475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23E38C"/>
                </a:solidFill>
              </a:defRPr>
            </a:pPr>
            <a:r>
              <a:rPr sz="1200" b="1">
                <a:solidFill>
                  <a:srgbClr val="23E38C"/>
                </a:solidFill>
              </a:rPr>
              <a:t>5</a:t>
            </a:r>
          </a:p>
        </p:txBody>
      </p:sp>
      <p:sp>
        <p:nvSpPr>
          <p:cNvPr id="29" name="node-title-4">
            <a:extLst>
              <a:ext uri="{FF2B5EF4-FFF2-40B4-BE49-F238E27FC236}">
                <a16:creationId xmlns:a16="http://schemas.microsoft.com/office/drawing/2014/main" id="{315AB7F8-35ED-45A4-8B69-EA24E27BF6B5}"/>
              </a:ext>
            </a:extLst>
          </p:cNvPr>
          <p:cNvSpPr>
            <a:spLocks noGrp="1"/>
          </p:cNvSpPr>
          <p:nvPr/>
        </p:nvSpPr>
        <p:spPr>
          <a:xfrm>
            <a:off x="10058400" y="2628900"/>
            <a:ext cx="1200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7FBFF"/>
                </a:solidFill>
              </a:defRPr>
            </a:pPr>
            <a:r>
              <a:rPr sz="1500" b="1">
                <a:solidFill>
                  <a:srgbClr val="F7FBFF"/>
                </a:solidFill>
              </a:rPr>
              <a:t>Validate</a:t>
            </a:r>
          </a:p>
        </p:txBody>
      </p:sp>
      <p:sp>
        <p:nvSpPr>
          <p:cNvPr id="30" name="node-detail-4">
            <a:extLst>
              <a:ext uri="{FF2B5EF4-FFF2-40B4-BE49-F238E27FC236}">
                <a16:creationId xmlns:a16="http://schemas.microsoft.com/office/drawing/2014/main" id="{8335D4D0-E30C-415E-9098-063790A64DCC}"/>
              </a:ext>
            </a:extLst>
          </p:cNvPr>
          <p:cNvSpPr>
            <a:spLocks noGrp="1"/>
          </p:cNvSpPr>
          <p:nvPr/>
        </p:nvSpPr>
        <p:spPr>
          <a:xfrm>
            <a:off x="9753600" y="3086100"/>
            <a:ext cx="152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A9BDD8"/>
                </a:solidFill>
              </a:defRPr>
            </a:pPr>
            <a:r>
              <a:rPr sz="1050" b="0">
                <a:solidFill>
                  <a:srgbClr val="A9BDD8"/>
                </a:solidFill>
              </a:rPr>
              <a:t>Active catalog IDs</a:t>
            </a:r>
          </a:p>
        </p:txBody>
      </p:sp>
      <p:sp>
        <p:nvSpPr>
          <p:cNvPr id="31" name="trace">
            <a:extLst>
              <a:ext uri="{FF2B5EF4-FFF2-40B4-BE49-F238E27FC236}">
                <a16:creationId xmlns:a16="http://schemas.microsoft.com/office/drawing/2014/main" id="{9FF83F79-5345-4B4D-836B-EC5741848A3D}"/>
              </a:ext>
            </a:extLst>
          </p:cNvPr>
          <p:cNvSpPr>
            <a:spLocks noGrp="1"/>
          </p:cNvSpPr>
          <p:nvPr/>
        </p:nvSpPr>
        <p:spPr>
          <a:xfrm>
            <a:off x="723900" y="3733800"/>
            <a:ext cx="10744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24D7FF"/>
                </a:solidFill>
              </a:defRPr>
            </a:pPr>
            <a:r>
              <a:rPr sz="1125" b="1">
                <a:solidFill>
                  <a:srgbClr val="24D7FF"/>
                </a:solidFill>
              </a:rPr>
              <a:t>Explicit LangGraph nodes create a visible workflow trace; every model and embedding call goes through Mesh API.</a:t>
            </a:r>
          </a:p>
        </p:txBody>
      </p:sp>
      <p:sp>
        <p:nvSpPr>
          <p:cNvPr id="32" name="mini-CONSISTENCY">
            <a:extLst>
              <a:ext uri="{FF2B5EF4-FFF2-40B4-BE49-F238E27FC236}">
                <a16:creationId xmlns:a16="http://schemas.microsoft.com/office/drawing/2014/main" id="{24A311FF-1ED0-45F6-AA0E-532C8D92EBC3}"/>
              </a:ext>
            </a:extLst>
          </p:cNvPr>
          <p:cNvSpPr>
            <a:spLocks noGrp="1"/>
          </p:cNvSpPr>
          <p:nvPr/>
        </p:nvSpPr>
        <p:spPr>
          <a:xfrm>
            <a:off x="457200" y="4476750"/>
            <a:ext cx="2628900" cy="838200"/>
          </a:xfrm>
          <a:prstGeom prst="roundRect">
            <a:avLst>
              <a:gd name="adj" fmla="val 13636"/>
            </a:avLst>
          </a:prstGeom>
          <a:solidFill>
            <a:srgbClr val="020817">
              <a:alpha val="92000"/>
            </a:srgbClr>
          </a:solidFill>
          <a:ln w="12383">
            <a:solidFill>
              <a:srgbClr val="24D7FF">
                <a:alpha val="65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3" name="mini-title-CONSISTENCY">
            <a:extLst>
              <a:ext uri="{FF2B5EF4-FFF2-40B4-BE49-F238E27FC236}">
                <a16:creationId xmlns:a16="http://schemas.microsoft.com/office/drawing/2014/main" id="{E37C86AE-4B28-44F7-8EA7-B50C4FF56B53}"/>
              </a:ext>
            </a:extLst>
          </p:cNvPr>
          <p:cNvSpPr>
            <a:spLocks noGrp="1"/>
          </p:cNvSpPr>
          <p:nvPr/>
        </p:nvSpPr>
        <p:spPr>
          <a:xfrm>
            <a:off x="628650" y="45910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4D7FF"/>
                </a:solidFill>
              </a:defRPr>
            </a:pPr>
            <a:r>
              <a:rPr sz="1350" b="1">
                <a:solidFill>
                  <a:srgbClr val="24D7FF"/>
                </a:solidFill>
              </a:rPr>
              <a:t>CONSISTENCY</a:t>
            </a:r>
          </a:p>
        </p:txBody>
      </p:sp>
      <p:sp>
        <p:nvSpPr>
          <p:cNvPr id="34" name="mini-detail-CONSISTENCY">
            <a:extLst>
              <a:ext uri="{FF2B5EF4-FFF2-40B4-BE49-F238E27FC236}">
                <a16:creationId xmlns:a16="http://schemas.microsoft.com/office/drawing/2014/main" id="{1E00E792-3619-4E40-88DF-0DEB2F1F79E0}"/>
              </a:ext>
            </a:extLst>
          </p:cNvPr>
          <p:cNvSpPr>
            <a:spLocks noGrp="1"/>
          </p:cNvSpPr>
          <p:nvPr/>
        </p:nvSpPr>
        <p:spPr>
          <a:xfrm>
            <a:off x="628650" y="48768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A9BDD8"/>
                </a:solidFill>
              </a:defRPr>
            </a:pPr>
            <a:r>
              <a:rPr sz="1050" b="0">
                <a:solidFill>
                  <a:srgbClr val="A9BDD8"/>
                </a:solidFill>
              </a:rPr>
              <a:t>SQL + transactional vector outbox</a:t>
            </a:r>
          </a:p>
        </p:txBody>
      </p:sp>
      <p:sp>
        <p:nvSpPr>
          <p:cNvPr id="35" name="mini-EFFICIENCY">
            <a:extLst>
              <a:ext uri="{FF2B5EF4-FFF2-40B4-BE49-F238E27FC236}">
                <a16:creationId xmlns:a16="http://schemas.microsoft.com/office/drawing/2014/main" id="{D70B1977-2DD3-4987-B63B-8F41A31E5D95}"/>
              </a:ext>
            </a:extLst>
          </p:cNvPr>
          <p:cNvSpPr>
            <a:spLocks noGrp="1"/>
          </p:cNvSpPr>
          <p:nvPr/>
        </p:nvSpPr>
        <p:spPr>
          <a:xfrm>
            <a:off x="3333750" y="4476750"/>
            <a:ext cx="2628900" cy="838200"/>
          </a:xfrm>
          <a:prstGeom prst="roundRect">
            <a:avLst>
              <a:gd name="adj" fmla="val 13636"/>
            </a:avLst>
          </a:prstGeom>
          <a:solidFill>
            <a:srgbClr val="020817">
              <a:alpha val="92000"/>
            </a:srgbClr>
          </a:solidFill>
          <a:ln w="12383">
            <a:solidFill>
              <a:srgbClr val="8B5CF6">
                <a:alpha val="65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6" name="mini-title-EFFICIENCY">
            <a:extLst>
              <a:ext uri="{FF2B5EF4-FFF2-40B4-BE49-F238E27FC236}">
                <a16:creationId xmlns:a16="http://schemas.microsoft.com/office/drawing/2014/main" id="{4247215E-5CBE-4F31-B8E8-7CA50CE31F10}"/>
              </a:ext>
            </a:extLst>
          </p:cNvPr>
          <p:cNvSpPr>
            <a:spLocks noGrp="1"/>
          </p:cNvSpPr>
          <p:nvPr/>
        </p:nvSpPr>
        <p:spPr>
          <a:xfrm>
            <a:off x="3505200" y="45910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8B5CF6"/>
                </a:solidFill>
              </a:defRPr>
            </a:pPr>
            <a:r>
              <a:rPr sz="1350" b="1">
                <a:solidFill>
                  <a:srgbClr val="8B5CF6"/>
                </a:solidFill>
              </a:rPr>
              <a:t>EFFICIENCY</a:t>
            </a:r>
          </a:p>
        </p:txBody>
      </p:sp>
      <p:sp>
        <p:nvSpPr>
          <p:cNvPr id="37" name="mini-detail-EFFICIENCY">
            <a:extLst>
              <a:ext uri="{FF2B5EF4-FFF2-40B4-BE49-F238E27FC236}">
                <a16:creationId xmlns:a16="http://schemas.microsoft.com/office/drawing/2014/main" id="{BD22045D-02FE-4BCC-BD4E-C811DF94A1F3}"/>
              </a:ext>
            </a:extLst>
          </p:cNvPr>
          <p:cNvSpPr>
            <a:spLocks noGrp="1"/>
          </p:cNvSpPr>
          <p:nvPr/>
        </p:nvSpPr>
        <p:spPr>
          <a:xfrm>
            <a:off x="3505200" y="48768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A9BDD8"/>
                </a:solidFill>
              </a:defRPr>
            </a:pPr>
            <a:r>
              <a:rPr sz="1050" b="0">
                <a:solidFill>
                  <a:srgbClr val="A9BDD8"/>
                </a:solidFill>
              </a:rPr>
              <a:t>Threshold + cooldown + cache</a:t>
            </a:r>
          </a:p>
        </p:txBody>
      </p:sp>
      <p:sp>
        <p:nvSpPr>
          <p:cNvPr id="38" name="mini-OPERATIONS">
            <a:extLst>
              <a:ext uri="{FF2B5EF4-FFF2-40B4-BE49-F238E27FC236}">
                <a16:creationId xmlns:a16="http://schemas.microsoft.com/office/drawing/2014/main" id="{AF4E64D2-BD5D-4590-8BAD-58B54720A52C}"/>
              </a:ext>
            </a:extLst>
          </p:cNvPr>
          <p:cNvSpPr>
            <a:spLocks noGrp="1"/>
          </p:cNvSpPr>
          <p:nvPr/>
        </p:nvSpPr>
        <p:spPr>
          <a:xfrm>
            <a:off x="6210300" y="4476750"/>
            <a:ext cx="2628900" cy="838200"/>
          </a:xfrm>
          <a:prstGeom prst="roundRect">
            <a:avLst>
              <a:gd name="adj" fmla="val 13636"/>
            </a:avLst>
          </a:prstGeom>
          <a:solidFill>
            <a:srgbClr val="020817">
              <a:alpha val="92000"/>
            </a:srgbClr>
          </a:solidFill>
          <a:ln w="12383">
            <a:solidFill>
              <a:srgbClr val="FFB52E">
                <a:alpha val="65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9" name="mini-title-OPERATIONS">
            <a:extLst>
              <a:ext uri="{FF2B5EF4-FFF2-40B4-BE49-F238E27FC236}">
                <a16:creationId xmlns:a16="http://schemas.microsoft.com/office/drawing/2014/main" id="{17CA9EFD-0EF0-4F1C-AC49-F3EDF8B248C1}"/>
              </a:ext>
            </a:extLst>
          </p:cNvPr>
          <p:cNvSpPr>
            <a:spLocks noGrp="1"/>
          </p:cNvSpPr>
          <p:nvPr/>
        </p:nvSpPr>
        <p:spPr>
          <a:xfrm>
            <a:off x="6381750" y="45910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FB52E"/>
                </a:solidFill>
              </a:defRPr>
            </a:pPr>
            <a:r>
              <a:rPr sz="1350" b="1">
                <a:solidFill>
                  <a:srgbClr val="FFB52E"/>
                </a:solidFill>
              </a:rPr>
              <a:t>OPERATIONS</a:t>
            </a:r>
          </a:p>
        </p:txBody>
      </p:sp>
      <p:sp>
        <p:nvSpPr>
          <p:cNvPr id="40" name="mini-detail-OPERATIONS">
            <a:extLst>
              <a:ext uri="{FF2B5EF4-FFF2-40B4-BE49-F238E27FC236}">
                <a16:creationId xmlns:a16="http://schemas.microsoft.com/office/drawing/2014/main" id="{4B3952C9-4348-4E12-B0D6-D6A0EABA0E05}"/>
              </a:ext>
            </a:extLst>
          </p:cNvPr>
          <p:cNvSpPr>
            <a:spLocks noGrp="1"/>
          </p:cNvSpPr>
          <p:nvPr/>
        </p:nvSpPr>
        <p:spPr>
          <a:xfrm>
            <a:off x="6381750" y="48768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A9BDD8"/>
                </a:solidFill>
              </a:defRPr>
            </a:pPr>
            <a:r>
              <a:rPr sz="1050" b="0">
                <a:solidFill>
                  <a:srgbClr val="A9BDD8"/>
                </a:solidFill>
              </a:rPr>
              <a:t>Retry failed syncs + scheduler</a:t>
            </a:r>
          </a:p>
        </p:txBody>
      </p:sp>
      <p:sp>
        <p:nvSpPr>
          <p:cNvPr id="41" name="mini-TRUST">
            <a:extLst>
              <a:ext uri="{FF2B5EF4-FFF2-40B4-BE49-F238E27FC236}">
                <a16:creationId xmlns:a16="http://schemas.microsoft.com/office/drawing/2014/main" id="{6D4A8AAE-4089-48DA-B40A-CC951C493DE3}"/>
              </a:ext>
            </a:extLst>
          </p:cNvPr>
          <p:cNvSpPr>
            <a:spLocks noGrp="1"/>
          </p:cNvSpPr>
          <p:nvPr/>
        </p:nvSpPr>
        <p:spPr>
          <a:xfrm>
            <a:off x="9086850" y="4476750"/>
            <a:ext cx="2647950" cy="838200"/>
          </a:xfrm>
          <a:prstGeom prst="roundRect">
            <a:avLst>
              <a:gd name="adj" fmla="val 13636"/>
            </a:avLst>
          </a:prstGeom>
          <a:solidFill>
            <a:srgbClr val="020817">
              <a:alpha val="92000"/>
            </a:srgbClr>
          </a:solidFill>
          <a:ln w="12383">
            <a:solidFill>
              <a:srgbClr val="23E38C">
                <a:alpha val="65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2" name="mini-title-TRUST">
            <a:extLst>
              <a:ext uri="{FF2B5EF4-FFF2-40B4-BE49-F238E27FC236}">
                <a16:creationId xmlns:a16="http://schemas.microsoft.com/office/drawing/2014/main" id="{2FE79C41-295C-4CE2-82F6-E9F66469B5F2}"/>
              </a:ext>
            </a:extLst>
          </p:cNvPr>
          <p:cNvSpPr>
            <a:spLocks noGrp="1"/>
          </p:cNvSpPr>
          <p:nvPr/>
        </p:nvSpPr>
        <p:spPr>
          <a:xfrm>
            <a:off x="9258300" y="4591050"/>
            <a:ext cx="2305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3E38C"/>
                </a:solidFill>
              </a:defRPr>
            </a:pPr>
            <a:r>
              <a:rPr sz="1350" b="1">
                <a:solidFill>
                  <a:srgbClr val="23E38C"/>
                </a:solidFill>
              </a:rPr>
              <a:t>TRUST</a:t>
            </a:r>
          </a:p>
        </p:txBody>
      </p:sp>
      <p:sp>
        <p:nvSpPr>
          <p:cNvPr id="43" name="mini-detail-TRUST">
            <a:extLst>
              <a:ext uri="{FF2B5EF4-FFF2-40B4-BE49-F238E27FC236}">
                <a16:creationId xmlns:a16="http://schemas.microsoft.com/office/drawing/2014/main" id="{04992566-4D1E-48C8-B474-C1E7795807F6}"/>
              </a:ext>
            </a:extLst>
          </p:cNvPr>
          <p:cNvSpPr>
            <a:spLocks noGrp="1"/>
          </p:cNvSpPr>
          <p:nvPr/>
        </p:nvSpPr>
        <p:spPr>
          <a:xfrm>
            <a:off x="9258300" y="4876800"/>
            <a:ext cx="230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A9BDD8"/>
                </a:solidFill>
              </a:defRPr>
            </a:pPr>
            <a:r>
              <a:rPr sz="1050" b="0">
                <a:solidFill>
                  <a:srgbClr val="A9BDD8"/>
                </a:solidFill>
              </a:rPr>
              <a:t>Evidence, consent-ready, no dark patterns</a:t>
            </a:r>
          </a:p>
        </p:txBody>
      </p:sp>
      <p:sp>
        <p:nvSpPr>
          <p:cNvPr id="44" name="footer">
            <a:extLst>
              <a:ext uri="{FF2B5EF4-FFF2-40B4-BE49-F238E27FC236}">
                <a16:creationId xmlns:a16="http://schemas.microsoft.com/office/drawing/2014/main" id="{8CFBFDF7-147F-47F7-84D3-DB42CC23D30C}"/>
              </a:ext>
            </a:extLst>
          </p:cNvPr>
          <p:cNvSpPr>
            <a:spLocks noGrp="1"/>
          </p:cNvSpPr>
          <p:nvPr/>
        </p:nvSpPr>
        <p:spPr>
          <a:xfrm>
            <a:off x="457200" y="5619750"/>
            <a:ext cx="11277600" cy="704850"/>
          </a:xfrm>
          <a:prstGeom prst="roundRect">
            <a:avLst>
              <a:gd name="adj" fmla="val 16216"/>
            </a:avLst>
          </a:prstGeom>
          <a:gradFill>
            <a:gsLst>
              <a:gs pos="0">
                <a:srgbClr val="0B2B4A">
                  <a:alpha val="96000"/>
                </a:srgbClr>
              </a:gs>
              <a:gs pos="55000">
                <a:srgbClr val="241443">
                  <a:alpha val="96000"/>
                </a:srgbClr>
              </a:gs>
              <a:gs pos="100000">
                <a:srgbClr val="073726">
                  <a:alpha val="96000"/>
                </a:srgbClr>
              </a:gs>
            </a:gsLst>
            <a:lin ang="5400000"/>
          </a:gradFill>
          <a:ln w="12383">
            <a:solidFill>
              <a:srgbClr val="24D7FF">
                <a:alpha val="35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5" name="footer-main">
            <a:extLst>
              <a:ext uri="{FF2B5EF4-FFF2-40B4-BE49-F238E27FC236}">
                <a16:creationId xmlns:a16="http://schemas.microsoft.com/office/drawing/2014/main" id="{AA26C579-1C63-4833-A068-DD5BFCA308DD}"/>
              </a:ext>
            </a:extLst>
          </p:cNvPr>
          <p:cNvSpPr>
            <a:spLocks noGrp="1"/>
          </p:cNvSpPr>
          <p:nvPr/>
        </p:nvSpPr>
        <p:spPr>
          <a:xfrm>
            <a:off x="685800" y="5762625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7FBFF"/>
                </a:solidFill>
              </a:defRPr>
            </a:pPr>
            <a:r>
              <a:rPr sz="1350" b="1">
                <a:solidFill>
                  <a:srgbClr val="F7FBFF"/>
                </a:solidFill>
              </a:rPr>
              <a:t>Demo story: Admin adds courses → learner behavior shifts → recommendations adapt → evidence and traces prove why.</a:t>
            </a:r>
          </a:p>
        </p:txBody>
      </p:sp>
      <p:sp>
        <p:nvSpPr>
          <p:cNvPr id="46" name="page2">
            <a:extLst>
              <a:ext uri="{FF2B5EF4-FFF2-40B4-BE49-F238E27FC236}">
                <a16:creationId xmlns:a16="http://schemas.microsoft.com/office/drawing/2014/main" id="{AB88281E-28AE-42F3-8431-D119114B4476}"/>
              </a:ext>
            </a:extLst>
          </p:cNvPr>
          <p:cNvSpPr>
            <a:spLocks noGrp="1"/>
          </p:cNvSpPr>
          <p:nvPr/>
        </p:nvSpPr>
        <p:spPr>
          <a:xfrm>
            <a:off x="11391900" y="6438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A9BDD8"/>
                </a:solidFill>
              </a:defRPr>
            </a:pPr>
            <a:r>
              <a:rPr sz="825" b="1">
                <a:solidFill>
                  <a:srgbClr val="A9BDD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2805593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304</Words>
  <Application>Microsoft Office PowerPoint</Application>
  <DocSecurity>0</DocSecurity>
  <PresentationFormat>Widescreen</PresentationFormat>
  <Paragraphs>68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Calibri</vt:lpstr>
      <vt:lpstr>ChatGPT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Brindha Jayapaul</cp:lastModifiedBy>
  <cp:revision>1</cp:revision>
  <dcterms:created xsi:type="dcterms:W3CDTF">2026-08-06T01:52:00Z</dcterms:created>
  <dcterms:modified xsi:type="dcterms:W3CDTF">2026-08-06T01:55:50Z</dcterms:modified>
</cp:coreProperties>
</file>